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525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034540"/>
            <a:ext cx="6583680" cy="6583680"/>
          </a:xfrm>
          <a:prstGeom prst="ellipse">
            <a:avLst/>
          </a:prstGeom>
          <a:solidFill>
            <a:srgbClr val="445CF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840480" cy="3840480"/>
          </a:xfrm>
          <a:prstGeom prst="ellipse">
            <a:avLst/>
          </a:prstGeom>
          <a:solidFill>
            <a:srgbClr val="23D8B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85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576" dirty="0"/>
          </a:p>
        </p:txBody>
      </p:sp>
      <p:sp>
        <p:nvSpPr>
          <p:cNvPr id="6" name="Text 4"/>
          <p:cNvSpPr/>
          <p:nvPr/>
        </p:nvSpPr>
        <p:spPr>
          <a:xfrm>
            <a:off x="1463040" y="6583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</a:t>
            </a:r>
            <a:r>
              <a:rPr lang="en-US" sz="2600" b="1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0F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REIMAGINED • SHOP REIMAGINED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Voltix: A Responsive Electronics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Website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hand-written HTML5 &amp; CSS3 — a fully responsive, mobile-first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electronics store, designed and coded as an academic web project.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074920"/>
            <a:ext cx="859536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A43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51937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0F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55046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Sharma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58704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2510992821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6200" y="55046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Amarinder Singh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6200" y="58704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2510993775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55046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Yashkaran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0" y="58704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2510993712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33ECF1-4C6D-8812-0F49-1092C5B563DB}"/>
              </a:ext>
            </a:extLst>
          </p:cNvPr>
          <p:cNvSpPr txBox="1"/>
          <p:nvPr/>
        </p:nvSpPr>
        <p:spPr>
          <a:xfrm>
            <a:off x="9918357" y="50250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6608" y="160020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5208" y="18013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98168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798168" y="222199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Voltix and what it demonstrates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3008" y="160020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1608" y="180136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284568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site structure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284568" y="222199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HTML/CSS, the page map, and design system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6608" y="333756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75208" y="35387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798168" y="3520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of every page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798168" y="395935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Shop, Product, Cart, Login &amp; Signup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3008" y="333756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61608" y="35387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284568" y="3520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code works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284568" y="395935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Divs, tables, forms, Flexbox/Grid, CSS-only interactivity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6608" y="507492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5208" y="527608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1798168" y="5257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&amp; mobile-first design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798168" y="569671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navbar, hamburger menu, mobile filters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33008" y="507492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61608" y="527608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7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7284568" y="5257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roadmap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284568" y="569671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hardcoded today, and what comes next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Voltix?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6126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2000"/>
              </a:lnSpc>
              <a:spcAft>
                <a:spcPts val="1600"/>
              </a:spcAft>
              <a:buSzPct val="100000"/>
              <a:buChar char="▸"/>
            </a:pPr>
            <a:r>
              <a:rPr lang="en-US" sz="14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Voltix is a fictional online electronics store — phones, audio, laptops, wearables, gaming gear and accessories — built as a front-end web development project.</a:t>
            </a:r>
            <a:endParaRPr lang="en-US" sz="1450" dirty="0"/>
          </a:p>
          <a:p>
            <a:pPr marL="342900" indent="-342900" algn="l">
              <a:lnSpc>
                <a:spcPct val="122000"/>
              </a:lnSpc>
              <a:spcAft>
                <a:spcPts val="1600"/>
              </a:spcAft>
              <a:buSzPct val="100000"/>
              <a:buChar char="▸"/>
            </a:pPr>
            <a:r>
              <a:rPr lang="en-US" sz="14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was to design a complete, realistic e-commerce experience (browse → view product → add to cart → checkout → account) using only HTML and CSS, no back-end and no JavaScript.</a:t>
            </a:r>
            <a:endParaRPr lang="en-US" sz="1450" dirty="0"/>
          </a:p>
          <a:p>
            <a:pPr marL="342900" indent="-342900" algn="l">
              <a:lnSpc>
                <a:spcPct val="122000"/>
              </a:lnSpc>
              <a:spcAft>
                <a:spcPts val="1600"/>
              </a:spcAft>
              <a:buSzPct val="100000"/>
              <a:buChar char="▸"/>
            </a:pPr>
            <a:r>
              <a:rPr lang="en-US" sz="14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you can click through — the mobile menu, the image gallery, the filters panel, the signup/login switch — is real and working, built purely with semantic HTML and CSS tricks.</a:t>
            </a:r>
            <a:endParaRPr lang="en-US" sz="1450" dirty="0"/>
          </a:p>
          <a:p>
            <a:pPr marL="342900" indent="-342900" algn="l">
              <a:lnSpc>
                <a:spcPct val="122000"/>
              </a:lnSpc>
              <a:spcAft>
                <a:spcPts val="1600"/>
              </a:spcAft>
              <a:buSzPct val="100000"/>
              <a:buChar char="▸"/>
            </a:pPr>
            <a:r>
              <a:rPr lang="en-US" sz="14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layout is fully responsive: the same markup adapts from a small phone screen up to a full desktop using CSS Flexbox, CSS Grid and media queries.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995160" y="169164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/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95160" y="194767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0F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132320" y="27432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pages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418320" y="169164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/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18320" y="194767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0F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555480" y="27432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95160" y="370332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/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95160" y="395935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0F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132320" y="47548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(desktop/tablet/mobile)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18320" y="370332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/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18320" y="395935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0F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555480" y="47548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Approach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7040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911096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445CF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9110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181965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176272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 throughout — &lt;header&gt;, &lt;nav&gt;, &lt;main&gt;, &lt;section&gt;, &lt;article&gt;, &lt;aside&gt;, &lt;footer&gt; — instead of generic &lt;div&gt; soup.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990088"/>
            <a:ext cx="7040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3209544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7848F8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20954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311810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474720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stylesheet (style.css). CSS Variables for the whole colour palette, Flexbox for rows/nav, Grid for card layouts, and media queries for responsiveness.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288536"/>
            <a:ext cx="70408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450799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23D8B3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5079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✕JS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44165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JavaScript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4773168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'interactive' feature — menus, toggles, image switchers — is done with pure CSS using the checkbox/radio 'hack', on purpose, per the syllabus scope.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18120" y="1691640"/>
            <a:ext cx="3886200" cy="4160520"/>
          </a:xfrm>
          <a:prstGeom prst="roundRect">
            <a:avLst>
              <a:gd name="adj" fmla="val 2353"/>
            </a:avLst>
          </a:prstGeom>
          <a:solidFill>
            <a:srgbClr val="101426"/>
          </a:solidFill>
          <a:ln/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82712" y="183794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21"/>
          <p:cNvSpPr/>
          <p:nvPr/>
        </p:nvSpPr>
        <p:spPr>
          <a:xfrm>
            <a:off x="8183880" y="1837944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4" name="Shape 22"/>
          <p:cNvSpPr/>
          <p:nvPr/>
        </p:nvSpPr>
        <p:spPr>
          <a:xfrm>
            <a:off x="8385048" y="183794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" name="Text 23"/>
          <p:cNvSpPr/>
          <p:nvPr/>
        </p:nvSpPr>
        <p:spPr>
          <a:xfrm>
            <a:off x="8641080" y="1773936"/>
            <a:ext cx="2788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B7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74152" y="2112264"/>
            <a:ext cx="34290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--ink:   #101426;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--blue:  #445cff;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--mint:  #23d8b3;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--muted: #64708a;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--line:  #e7eaf1;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--radius: 22px;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92A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used everywhere: */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.button {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var(--blue);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var(--radius);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818120" y="594360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 of CSS variables drives every colour and radius on the site — change it once, it updates everywhere.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Pages, One Shared Stylesheet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6393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189280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45CFF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2459736"/>
            <a:ext cx="3236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014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04088" y="3008376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— hero, categories, deals, trending products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1688" y="1691640"/>
            <a:ext cx="36393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62856" y="189280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45C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62856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62856" y="2459736"/>
            <a:ext cx="3236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014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shop.html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62856" y="3008376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catalogue with filters &amp; sorting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0456" y="1691640"/>
            <a:ext cx="36393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21624" y="189280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45CFF"/>
          </a:solidFill>
          <a:ln/>
        </p:spPr>
      </p:sp>
      <p:sp>
        <p:nvSpPr>
          <p:cNvPr id="18" name="Text 16"/>
          <p:cNvSpPr/>
          <p:nvPr/>
        </p:nvSpPr>
        <p:spPr>
          <a:xfrm>
            <a:off x="8421624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21624" y="2459736"/>
            <a:ext cx="3236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014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product-*.html × 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8421624" y="3008376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dedicated page per product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794760"/>
            <a:ext cx="36393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" y="39959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45CFF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" y="4562856"/>
            <a:ext cx="3236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014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cart.html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04088" y="5111496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with order summary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61688" y="3794760"/>
            <a:ext cx="36393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62856" y="39959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45C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62856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62856" y="4562856"/>
            <a:ext cx="3236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014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login.html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4562856" y="5111496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form (+ toggle to Sign up)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0456" y="3794760"/>
            <a:ext cx="36393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21624" y="39959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445CFF"/>
          </a:solidFill>
          <a:ln/>
        </p:spPr>
      </p:sp>
      <p:sp>
        <p:nvSpPr>
          <p:cNvPr id="33" name="Text 31"/>
          <p:cNvSpPr/>
          <p:nvPr/>
        </p:nvSpPr>
        <p:spPr>
          <a:xfrm>
            <a:off x="8421624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21624" y="4562856"/>
            <a:ext cx="3236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014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signup.html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8421624" y="5111496"/>
            <a:ext cx="3236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form (+ toggle to Log in)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links back to style.css, so the whole site shares one consistent design system.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WALKTHROUGH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Homepage (index.html)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48056" y="1591056"/>
            <a:ext cx="6099048" cy="4270248"/>
          </a:xfrm>
          <a:prstGeom prst="roundRect">
            <a:avLst>
              <a:gd name="adj" fmla="val 192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pic>
        <p:nvPicPr>
          <p:cNvPr id="7" name="Image 0" descr="shots/home_deskt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645920"/>
            <a:ext cx="598932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897880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trust row, category grid — all real content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720840" y="1645920"/>
            <a:ext cx="4983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2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banner: a flex row (.hero-card) with the headline on the left and the product image floated on the right using position: absolute.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grid: a CSS Grid (.categories) with 6 equal columns on desktop, collapsing to 3 then 2 columns on smaller screens.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products: reuses the same .product “card” component that appears on the Shop page — built once, used everywhere.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4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Flash-deal banner and newsletter strip: full-width sections, each its own &lt;section&gt;, stacked in normal document flow.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AA9C6D-2135-F346-A62E-8875885B1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94" y="1508760"/>
            <a:ext cx="6268172" cy="4352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TECHNIQUE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Layout Divs Work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6263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2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section is a plain &lt;div class="container"&gt; that centres content and caps its width at 1180px — this one class controls the whole site's margins.</a:t>
            </a:r>
            <a:endParaRPr lang="en-US" sz="1400" dirty="0"/>
          </a:p>
          <a:p>
            <a:pPr marL="342900" indent="-342900" algn="l">
              <a:lnSpc>
                <a:spcPct val="122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items (nav links, hero content, trust badges) use display: flex so items sit side-by-side and share space evenly.</a:t>
            </a:r>
            <a:endParaRPr lang="en-US" sz="1400" dirty="0"/>
          </a:p>
          <a:p>
            <a:pPr marL="342900" indent="-342900" algn="l">
              <a:lnSpc>
                <a:spcPct val="122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 of same-sized cards (categories, products) use display: grid with repeat(n, 1fr) — CSS works out equal column widths automatically.</a:t>
            </a:r>
            <a:endParaRPr lang="en-US" sz="1400" dirty="0"/>
          </a:p>
          <a:p>
            <a:pPr marL="342900" indent="-342900" algn="l">
              <a:lnSpc>
                <a:spcPct val="122000"/>
              </a:lnSpc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 divs by role, not by appearance, keeps the HTML readable: .product-media wraps the image, .product-info wraps the text.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95160" y="1691640"/>
            <a:ext cx="4709160" cy="4343400"/>
          </a:xfrm>
          <a:prstGeom prst="roundRect">
            <a:avLst>
              <a:gd name="adj" fmla="val 2105"/>
            </a:avLst>
          </a:prstGeom>
          <a:solidFill>
            <a:srgbClr val="101426"/>
          </a:solidFill>
          <a:ln/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59752" y="183794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360920" y="1837944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7562088" y="183794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7818120" y="1773936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B7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+ style.css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51192" y="2112264"/>
            <a:ext cx="42519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92A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product "card" component --&gt;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 class="product"&gt;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class="product-media"&gt;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&lt;span class="badge"&gt;NEW&lt;/span&gt;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&lt;img src="..." alt="..."&gt;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class="product-info"&gt;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&lt;h3&gt;Galaxy S24 Ultra&lt;/h3&gt;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class="price-row"&gt;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class="price"&gt;$1,099&lt;/div&gt;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&lt;/article&gt;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9B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.products {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repeat(4,1fr);</a:t>
            </a:r>
            <a:endParaRPr lang="en-US" sz="11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9B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Nav Bar on Every Page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6035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2000"/>
              </a:lnSpc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 strip and the &lt;nav&gt; are both position: fixed to the top of the viewport, so they stay visible while the page scrolls — on desktop AND mobile.</a:t>
            </a:r>
            <a:endParaRPr lang="en-US" sz="1450" dirty="0"/>
          </a:p>
          <a:p>
            <a:pPr marL="342900" indent="-342900" algn="l">
              <a:lnSpc>
                <a:spcPct val="122000"/>
              </a:lnSpc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fixed elements leave the normal page flow, the &lt;body&gt; gets matching padding-top so content never hides underneath the bar.</a:t>
            </a:r>
            <a:endParaRPr lang="en-US" sz="1450" dirty="0"/>
          </a:p>
          <a:p>
            <a:pPr marL="342900" indent="-342900" algn="l">
              <a:lnSpc>
                <a:spcPct val="122000"/>
              </a:lnSpc>
              <a:spcAft>
                <a:spcPts val="1400"/>
              </a:spcAft>
              <a:buSzPct val="100000"/>
              <a:buChar char="▸"/>
            </a:pPr>
            <a:r>
              <a:rPr lang="en-US" sz="14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navigation — logo, links, search box, account &amp; cart icons, and the mobile menu button — lives inside one semantic &lt;nav&gt; element, as required.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87680" y="4617720"/>
            <a:ext cx="6035040" cy="1874520"/>
          </a:xfrm>
          <a:prstGeom prst="roundRect">
            <a:avLst>
              <a:gd name="adj" fmla="val 4878"/>
            </a:avLst>
          </a:prstGeom>
          <a:solidFill>
            <a:srgbClr val="101426"/>
          </a:solidFill>
          <a:ln/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476402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4764024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476402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4700016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B7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952" y="5038344"/>
            <a:ext cx="5577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{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fixed;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38px; left: 0; right: 0;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350" dirty="0">
                <a:solidFill>
                  <a:srgbClr val="9B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 padding-top: 116px; }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48856" y="1636776"/>
            <a:ext cx="4910328" cy="3447288"/>
          </a:xfrm>
          <a:prstGeom prst="roundRect">
            <a:avLst>
              <a:gd name="adj" fmla="val 238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pic>
        <p:nvPicPr>
          <p:cNvPr id="14" name="Image 0" descr="shots/home_deskt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03720" y="1691640"/>
            <a:ext cx="4800600" cy="33375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903720" y="512064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 strip + &lt;nav&gt; pinned to the top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4C4225-93BB-339B-69D7-B40D2ECED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864" y="1252448"/>
            <a:ext cx="5544312" cy="38499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Hamburger Menu — Zero JavaScript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58064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2000"/>
              </a:lnSpc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&lt;input type="checkbox"&gt; plus a &lt;label&gt; styled as the ☰ button is the entire trick — clicking the label toggles the checkbox, no JavaScript involved.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then reads that checkbox state with the :checked selector to expand the link list — the classic 'checkbox hack'.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dropdown is positioned with top: 100% relative to the &lt;nav&gt;, so it always sits flush under the header with no gap, on any screen size.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icon now stays visible on every mobile width, so login is always one tap away.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4663440"/>
            <a:ext cx="5806440" cy="1965960"/>
          </a:xfrm>
          <a:prstGeom prst="roundRect">
            <a:avLst>
              <a:gd name="adj" fmla="val 4651"/>
            </a:avLst>
          </a:prstGeom>
          <a:solidFill>
            <a:srgbClr val="101426"/>
          </a:solidFill>
          <a:ln/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480974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4809744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480974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4745736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B7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+ style.css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952" y="5084064"/>
            <a:ext cx="5349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type="checkbox" id="nav-toggle"&gt;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for="nav-toggle"&gt;☰&lt;/label&gt;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9B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#nav-toggle:checked ~ .nav-links {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max-height: 320px;</a:t>
            </a:r>
            <a:endParaRPr lang="en-US" sz="1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9B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40602" y="606804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open, flush under the nav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56D92D-CE63-5639-9C14-90A8C4409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874" y="806437"/>
            <a:ext cx="2441448" cy="53165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1C4993-8D90-05CD-6C5D-4A54713E2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040" y="549997"/>
            <a:ext cx="2711116" cy="55441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WALKTHROUGH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Page (shop.html)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48056" y="1591056"/>
            <a:ext cx="6419088" cy="4270248"/>
          </a:xfrm>
          <a:prstGeom prst="roundRect">
            <a:avLst>
              <a:gd name="adj" fmla="val 192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pic>
        <p:nvPicPr>
          <p:cNvPr id="7" name="Image 0" descr="shots/shop_deskt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645920"/>
            <a:ext cx="630936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8978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filters + a short, deliberate 6-product grid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40880" y="164592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kept the catalogue short on purpose: 6 real products, each hardcoded, each linking to its own dedicated detail page instead of one shared placeholder.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filter sidebar (&lt;aside class="filters"&gt;) is a stack of &lt;div class="filter-group"&gt; blocks, each holding real checkboxes and &lt;label&gt;s.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layout uses CSS Grid: grid-template-columns: 250px 1fr — a fixed sidebar next to a flexible product area.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mobile, the sidebar collapses into a “Filters” button (next slide) instead of pushing the product grid down the page.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1DD077-D9D5-200C-860C-9CFBBB068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17" y="1280160"/>
            <a:ext cx="6419088" cy="50039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Become a Button on Mobile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58064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2000"/>
              </a:lnSpc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checkbox-hack pattern as the nav menu: a hidden checkbox + a “Filters” &lt;label&gt; sit above the filter panel.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the panel is display: none on mobile, so the product grid is what visitors see immediately — no scrolling past filters first.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the button checks the box, and #filters-toggle:checked ~ .filters reveals the full filter panel underneath it.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is completely unaffected — the filters sidebar still shows permanently, because this rule only applies inside a mobile media query.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4937760"/>
            <a:ext cx="5806440" cy="1463040"/>
          </a:xfrm>
          <a:prstGeom prst="roundRect">
            <a:avLst>
              <a:gd name="adj" fmla="val 6250"/>
            </a:avLst>
          </a:prstGeom>
          <a:solidFill>
            <a:srgbClr val="101426"/>
          </a:solidFill>
          <a:ln/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7512" y="508406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5084064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508406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5020056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B7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shop.html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952" y="5358384"/>
            <a:ext cx="5349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50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id="filters-toggle" type="checkbox"&gt;</a:t>
            </a:r>
            <a:endParaRPr lang="en-US" sz="15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50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for="filters-toggle"&gt;Filters&lt;/label&gt;</a:t>
            </a:r>
            <a:endParaRPr lang="en-US" sz="15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50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 class="filters"&gt;...&lt;/aside&gt;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23860" y="6400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by default, one tap to open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C67561-B9F1-0A4B-3BE0-F3AD08607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667" y="576072"/>
            <a:ext cx="2724106" cy="56967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WALKTHROUGH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Product Pages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48056" y="1591056"/>
            <a:ext cx="6419088" cy="4270248"/>
          </a:xfrm>
          <a:prstGeom prst="roundRect">
            <a:avLst>
              <a:gd name="adj" fmla="val 192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pic>
        <p:nvPicPr>
          <p:cNvPr id="7" name="Image 0" descr="shots/product_deskt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645920"/>
            <a:ext cx="630936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5344" y="6200274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product-sony-wh1000xm5.html — one of six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40880" y="164592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generic product.html, every product has its own file (e.g. product-galaxy-s24-ultra.html) with real title, price, description and specs.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are a plain &lt;ul class="pd-specs"&gt; list, each &lt;li&gt; holding a bold label and a value — styled into a two-column grid with CSS.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“Related products” row at the bottom reuses the same .product card component and cross-links to the other 5 real product pages.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each page is a separate file today, this is where an API would plug in later (see Future Plans).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06D081-7C46-D050-404B-25681889C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44" y="1263966"/>
            <a:ext cx="6544511" cy="4767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 WITHOUT JAVASCRIPT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Image Gallery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48056" y="1636776"/>
            <a:ext cx="7013448" cy="3447288"/>
          </a:xfrm>
          <a:prstGeom prst="roundRect">
            <a:avLst>
              <a:gd name="adj" fmla="val 238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pic>
        <p:nvPicPr>
          <p:cNvPr id="7" name="Image 0" descr="shots/product_gallery_switch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691640"/>
            <a:ext cx="6903720" cy="3337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2926" y="5649525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“Side” thumbnail selected — note the blue active border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35240" y="1691640"/>
            <a:ext cx="4069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2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hidden radio inputs (one per photo angle) sit before the gallery in the HTML.</a:t>
            </a:r>
            <a:endParaRPr lang="en-US" sz="1300" dirty="0"/>
          </a:p>
          <a:p>
            <a:pPr marL="342900" indent="-342900" algn="l">
              <a:lnSpc>
                <a:spcPct val="122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thumbnail is a &lt;label for="view-..."&gt;, so clicking the photo checks its radio — that's the whole interaction.</a:t>
            </a:r>
            <a:endParaRPr lang="en-US" sz="1300" dirty="0"/>
          </a:p>
          <a:p>
            <a:pPr marL="342900" indent="-342900" algn="l">
              <a:lnSpc>
                <a:spcPct val="122000"/>
              </a:lnSpc>
              <a:spcAft>
                <a:spcPts val="1200"/>
              </a:spcAft>
              <a:buSzPct val="100000"/>
              <a:buChar char="▸"/>
            </a:pP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then shows only the matching main image with :checked ~ .gallery-main .gv-side { display:block; } and outlines the active thumbnail with a blue border.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4343400"/>
            <a:ext cx="4069080" cy="2103120"/>
          </a:xfrm>
          <a:prstGeom prst="roundRect">
            <a:avLst>
              <a:gd name="adj" fmla="val 4348"/>
            </a:avLst>
          </a:prstGeom>
          <a:solidFill>
            <a:srgbClr val="101426"/>
          </a:solidFill>
          <a:ln/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99832" y="4489704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9"/>
          <p:cNvSpPr/>
          <p:nvPr/>
        </p:nvSpPr>
        <p:spPr>
          <a:xfrm>
            <a:off x="8001000" y="4489704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0"/>
          <p:cNvSpPr/>
          <p:nvPr/>
        </p:nvSpPr>
        <p:spPr>
          <a:xfrm>
            <a:off x="8202168" y="4489704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1"/>
          <p:cNvSpPr/>
          <p:nvPr/>
        </p:nvSpPr>
        <p:spPr>
          <a:xfrm>
            <a:off x="8458200" y="4425696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B7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891272" y="4764024"/>
            <a:ext cx="3611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9B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#view-side:checked ~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.gallery-main .gv-side,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9BB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#view-side:checked ~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.thumbs label[for=view-side] {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display: block;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70F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border-color: var(--blue);</a:t>
            </a:r>
            <a:endParaRPr lang="en-US" sz="11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100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D40D038-4F67-99B9-E6B8-9C46587AA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14" y="1324413"/>
            <a:ext cx="7108578" cy="42322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WALKTHROUGH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Shopping Cart &amp; &lt;table&gt;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48056" y="1591056"/>
            <a:ext cx="6419088" cy="4270248"/>
          </a:xfrm>
          <a:prstGeom prst="roundRect">
            <a:avLst>
              <a:gd name="adj" fmla="val 192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pic>
        <p:nvPicPr>
          <p:cNvPr id="7" name="Image 0" descr="shots/cart_deskt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645920"/>
            <a:ext cx="630936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995757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cart.html — a real HTML table, styled with CSS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40880" y="164592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 items are a genuine HTML &lt;table&gt;: &lt;thead&gt; holds the column headers (Product, Price, Quantity, Subtotal), &lt;tbody&gt; holds one &lt;tr&gt; per item.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deliberate — tabular, row-and-column data like a cart belongs in a &lt;table&gt;, not in styled &lt;div&gt;s, for both semantics and accessibility.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summary beside it is a separate card (&lt;aside class="cart-summary"&gt;) with flex rows for Subtotal / Shipping / Tax / Total.</a:t>
            </a:r>
            <a:endParaRPr lang="en-US" sz="1350" dirty="0"/>
          </a:p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3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steppers use plain &lt;button&gt; + &lt;input&gt; pairs, ready to be wired to real logic once JavaScript is introduced.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40EB6D-8004-B955-B7DF-346A9BF48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37" y="1359419"/>
            <a:ext cx="6817895" cy="45691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WALKTHROUGH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⇄ Log In Toggle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48056" y="1591056"/>
            <a:ext cx="6647688" cy="4270248"/>
          </a:xfrm>
          <a:prstGeom prst="roundRect">
            <a:avLst>
              <a:gd name="adj" fmla="val 192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pic>
        <p:nvPicPr>
          <p:cNvPr id="7" name="Image 0" descr="shots/signup_deskt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645920"/>
            <a:ext cx="6537960" cy="4160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897880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toggle, two real &lt;form&gt;s, zero JavaScript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269480" y="1645920"/>
            <a:ext cx="4434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20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HTML forms with proper input types (email, password), required and minlength validation — the browser itself blocks bad input.</a:t>
            </a:r>
            <a:endParaRPr lang="en-US" sz="1250" dirty="0"/>
          </a:p>
          <a:p>
            <a:pPr marL="342900" indent="-342900" algn="l">
              <a:lnSpc>
                <a:spcPct val="1220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up / Log in switch uses two more hidden radio buttons; whichever is :checked shows its .auth-panel and highlights its tab.</a:t>
            </a:r>
            <a:endParaRPr lang="en-US" sz="1250" dirty="0"/>
          </a:p>
          <a:p>
            <a:pPr marL="342900" indent="-342900" algn="l">
              <a:lnSpc>
                <a:spcPct val="1220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“Already have an account?” is a &lt;label for="auth-tab-login"&gt; styled like a link — clicking it flips the same toggle from inside the other panel.</a:t>
            </a:r>
            <a:endParaRPr lang="en-US" sz="1250" dirty="0"/>
          </a:p>
          <a:p>
            <a:pPr marL="342900" indent="-342900" algn="l">
              <a:lnSpc>
                <a:spcPct val="122000"/>
              </a:lnSpc>
              <a:spcAft>
                <a:spcPts val="1100"/>
              </a:spcAft>
              <a:buSzPct val="100000"/>
              <a:buChar char="▸"/>
            </a:pPr>
            <a:r>
              <a:rPr lang="en-US" sz="12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post to process-signup.php / process-login.php — stubbed action attributes, ready for a real backend (see Future Plans).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PAGES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 System, Site-Wide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101426"/>
          </a:solidFill>
          <a:ln/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/ Navy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#101426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445CFF"/>
          </a:solidFill>
          <a:ln/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56432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Blue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56432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#445cff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169164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23D8B3"/>
          </a:solidFill>
          <a:ln/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45352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Accent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45352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#23d8b3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69680" y="169164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FF794C"/>
          </a:solidFill>
          <a:ln/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34272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/ Hot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34272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#ff794c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3063240"/>
            <a:ext cx="11155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Typography: Inter (a modern sans-serif) throughout, bold weights for headings, all driven from one font-family rule on &lt;body&gt;.</a:t>
            </a:r>
            <a:endParaRPr lang="en-US" sz="1450" dirty="0"/>
          </a:p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components: .button, .badge, .card / .product, .icon-btn — the same class names and look everywhere they appear.</a:t>
            </a:r>
            <a:endParaRPr lang="en-US" sz="1450" dirty="0"/>
          </a:p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corners (22px radius) and soft drop shadows on every card, consistently, via the --radius and --shadow variables.</a:t>
            </a:r>
            <a:endParaRPr lang="en-US" sz="1450" dirty="0"/>
          </a:p>
          <a:p>
            <a:pPr marL="342900" indent="-342900" algn="l">
              <a:lnSpc>
                <a:spcPct val="122000"/>
              </a:lnSpc>
              <a:spcAft>
                <a:spcPts val="1300"/>
              </a:spcAft>
              <a:buSzPct val="100000"/>
              <a:buChar char="▸"/>
            </a:pPr>
            <a:r>
              <a:rPr lang="en-US" sz="14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 sit inside small colored circles or rounded squares (trust badges, category icons, the nav's account/cart buttons) — a motif repeated across every page.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Breakpoints, One Codebase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4111" y="1387642"/>
            <a:ext cx="3932722" cy="42519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5978" y="1564187"/>
            <a:ext cx="1371600" cy="384048"/>
          </a:xfrm>
          <a:prstGeom prst="roundRect">
            <a:avLst>
              <a:gd name="adj" fmla="val 21429"/>
            </a:avLst>
          </a:prstGeom>
          <a:solidFill>
            <a:srgbClr val="445CFF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" y="1554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980px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557" y="20310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4578" y="33832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column grids, sidebar filters visible, full nav links shown inline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417320"/>
            <a:ext cx="3727383" cy="42519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71416" y="1568918"/>
            <a:ext cx="1371600" cy="384048"/>
          </a:xfrm>
          <a:prstGeom prst="roundRect">
            <a:avLst>
              <a:gd name="adj" fmla="val 21429"/>
            </a:avLst>
          </a:prstGeom>
          <a:solidFill>
            <a:srgbClr val="7848F8"/>
          </a:solidFill>
          <a:ln/>
        </p:spPr>
      </p:sp>
      <p:sp>
        <p:nvSpPr>
          <p:cNvPr id="13" name="Text 11"/>
          <p:cNvSpPr/>
          <p:nvPr/>
        </p:nvSpPr>
        <p:spPr>
          <a:xfrm>
            <a:off x="4439011" y="1554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651px – 980px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9011" y="1964195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41520" y="33832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 drop to 2–3 columns, hamburger menu appears, sidebar still visible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00226" y="1417320"/>
            <a:ext cx="3824935" cy="42519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8472" y="1558811"/>
            <a:ext cx="1371600" cy="384048"/>
          </a:xfrm>
          <a:prstGeom prst="roundRect">
            <a:avLst>
              <a:gd name="adj" fmla="val 21429"/>
            </a:avLst>
          </a:prstGeom>
          <a:solidFill>
            <a:srgbClr val="23D8B3"/>
          </a:solidFill>
          <a:ln/>
        </p:spPr>
      </p:sp>
      <p:sp>
        <p:nvSpPr>
          <p:cNvPr id="18" name="Text 16"/>
          <p:cNvSpPr/>
          <p:nvPr/>
        </p:nvSpPr>
        <p:spPr>
          <a:xfrm>
            <a:off x="8285604" y="156891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650px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60767" y="195296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68902" y="3383280"/>
            <a:ext cx="3586213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column, filters &amp; menu collapse behind buttons, search bar hidden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980px) { ... }     @media (max-width: 650px) { ... 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E31016F-4A30-9289-CE2E-D8513E007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11" y="2404873"/>
            <a:ext cx="3825399" cy="1539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ACD70C6-2121-B91F-8BC2-2D1B402A3B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" r="-1"/>
          <a:stretch>
            <a:fillRect/>
          </a:stretch>
        </p:blipFill>
        <p:spPr>
          <a:xfrm>
            <a:off x="4319977" y="2301317"/>
            <a:ext cx="3685356" cy="17440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794420F-C11D-486B-BCBA-64728F6DE3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1544"/>
          <a:stretch>
            <a:fillRect/>
          </a:stretch>
        </p:blipFill>
        <p:spPr>
          <a:xfrm>
            <a:off x="8745274" y="2427350"/>
            <a:ext cx="2539945" cy="16993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1323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Solved with CSS Alone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JavaScript allowed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313432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toggle (menu, filters, gallery, auth tabs) had to be rebuilt with the checkbox/radio 'hack' instead of onclick handlers.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82512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nav + no layout jump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82512" y="2313432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header out of normal flow with position: fixed meant carefully matching body padding-top so content never hid underneath.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" y="4023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mobile dropdowns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8952" y="4462272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the mobile menu to top: 100% of the nav (instead of a guessed pixel value) keeps it pixel-perfect at any header height.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84048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177800" dist="50800" dir="5400000" algn="bl" rotWithShape="0">
              <a:srgbClr val="1A244D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82512" y="4023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6 pages consistent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82512" y="4462272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47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style.css and repeated component classes (.product, .btn-primary, .field) kept every page visually identical without a template engine.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32" dirty="0"/>
          </a:p>
        </p:txBody>
      </p:sp>
      <p:sp>
        <p:nvSpPr>
          <p:cNvPr id="4" name="Text 2"/>
          <p:cNvSpPr/>
          <p:nvPr/>
        </p:nvSpPr>
        <p:spPr>
          <a:xfrm>
            <a:off x="1051560" y="4846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70F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3272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Plans for Voltix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23B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68249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3D8B3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664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60934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filters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99339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category, price and brand checkboxes to real JavaScript (or a backend query) that actually narrows the product grid.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23B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168249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3D8B3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1664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160934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countdown timer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199339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static 08:34:51 flash-deal clock with a real JS countdown that ticks down to a live deadline.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502920" y="3035808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23B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325526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3D8B3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2369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1821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via an 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56616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hardcoded product HTML for data fetched from a REST API / database — add, edit or remove products without touching markup.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6217920" y="3035808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23B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19088" y="325526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3D8B3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32369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31821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login &amp; signup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356616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existing forms to a PHP/MySQL (or Node) backend for real authentication, sessions and password hashing.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502920" y="4608576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23B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" y="482803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3D8B3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" y="48097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47548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working cart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513892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cart stored in a database or localStorage — quantities, totals and “Remove” actually updating the page.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6217920" y="4608576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323B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19088" y="482803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3D8B3"/>
          </a:solidFill>
          <a:ln/>
        </p:spPr>
      </p:sp>
      <p:sp>
        <p:nvSpPr>
          <p:cNvPr id="33" name="Text 31"/>
          <p:cNvSpPr/>
          <p:nvPr/>
        </p:nvSpPr>
        <p:spPr>
          <a:xfrm>
            <a:off x="6419088" y="48097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5160" y="47548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checkout flow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95160" y="513892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C6C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search bar and a full checkout process with payment gateway integration.</a:t>
            </a:r>
            <a:endParaRPr lang="en-US" sz="107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6400800" cy="6400800"/>
          </a:xfrm>
          <a:prstGeom prst="ellipse">
            <a:avLst/>
          </a:prstGeom>
          <a:solidFill>
            <a:srgbClr val="445C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23D8B3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760720" y="183745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445CFF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0" y="1855985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220" dirty="0"/>
          </a:p>
        </p:txBody>
      </p:sp>
      <p:sp>
        <p:nvSpPr>
          <p:cNvPr id="6" name="Text 4"/>
          <p:cNvSpPr/>
          <p:nvPr/>
        </p:nvSpPr>
        <p:spPr>
          <a:xfrm>
            <a:off x="4480560" y="2514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</a:t>
            </a:r>
            <a:r>
              <a:rPr lang="en-US" sz="2400" b="1" dirty="0">
                <a:solidFill>
                  <a:srgbClr val="44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7048" y="3200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527048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2648" y="4892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Arnav Sharma (2510992821)   •   Amarinder Singh (2510993775)   •   Yashkaran Sekhon (2510993712)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2655</Words>
  <Application>Microsoft Office PowerPoint</Application>
  <PresentationFormat>Widescreen</PresentationFormat>
  <Paragraphs>328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Arnav Sharma</cp:lastModifiedBy>
  <cp:revision>7</cp:revision>
  <dcterms:created xsi:type="dcterms:W3CDTF">2026-08-23T10:51:38Z</dcterms:created>
  <dcterms:modified xsi:type="dcterms:W3CDTF">2026-08-27T06:57:39Z</dcterms:modified>
</cp:coreProperties>
</file>